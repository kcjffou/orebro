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78" r:id="rId6"/>
    <p:sldId id="280" r:id="rId7"/>
    <p:sldId id="281" r:id="rId8"/>
    <p:sldId id="285" r:id="rId9"/>
    <p:sldId id="286" r:id="rId10"/>
    <p:sldId id="257" r:id="rId11"/>
    <p:sldId id="282" r:id="rId12"/>
    <p:sldId id="284" r:id="rId13"/>
    <p:sldId id="279" r:id="rId14"/>
    <p:sldId id="283" r:id="rId15"/>
    <p:sldId id="287" r:id="rId16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5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91DD62A-92C2-449E-845A-4922E68B05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D7EF2B1E-A86A-4C1C-A263-3440C2EE9C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1DF98C55-D05B-4072-A610-667451043B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91782-E84B-428D-A7BC-C5FA41E11413}" type="datetimeFigureOut">
              <a:rPr lang="cs-CZ" smtClean="0"/>
              <a:t>09.12.2025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C16DBEC7-261F-4F8A-974B-6BDD2D7B2D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41C8BB06-9455-42AA-9BEB-77558D73E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330C9-6AC8-4653-8873-EA2FBA5E4A43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035815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D07414C-06D3-44E0-8E6B-788730991E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0C7F60B-25CD-4E47-87B9-76A158D16A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E3357960-484C-492C-A2BE-AF6758B269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91782-E84B-428D-A7BC-C5FA41E11413}" type="datetimeFigureOut">
              <a:rPr lang="cs-CZ" smtClean="0"/>
              <a:t>09.12.2025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0E6BC885-355A-4D31-A1CC-3B6F85DCB1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29D194FE-F921-48C6-ACCA-D78201C66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330C9-6AC8-4653-8873-EA2FBA5E4A43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4780896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C84C316-FB9D-4A1D-BE08-7FA715A932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29DC5D7F-0C9E-4282-A754-8D97FE09C4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C319149E-8A03-4677-A2F5-A24C08B930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91782-E84B-428D-A7BC-C5FA41E11413}" type="datetimeFigureOut">
              <a:rPr lang="cs-CZ" smtClean="0"/>
              <a:t>09.12.2025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2256E947-7D58-4ABF-A6D1-5935B8588B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AC57D64D-B286-4075-BD83-15C7DF4E3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330C9-6AC8-4653-8873-EA2FBA5E4A43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579151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97710C1-2085-43B2-ABB1-D08334F96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4002DB5-2FD5-495C-A3E5-819E159309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19DA6C2B-254E-4CDF-87CE-BCDD894F32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39FA6470-3CF9-4A18-8747-5D0319EE5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91782-E84B-428D-A7BC-C5FA41E11413}" type="datetimeFigureOut">
              <a:rPr lang="cs-CZ" smtClean="0"/>
              <a:t>09.12.2025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87A0A363-1BF9-48BC-9185-233D1B8B5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2CA56422-CE91-4890-A455-59E3A7264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330C9-6AC8-4653-8873-EA2FBA5E4A43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3014003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584F1F1-69BB-442B-BAE4-0ECC801F44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767C2560-6584-410F-BBBC-4855C4C538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AF537A55-ACB1-493F-94EB-081B0F90AF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CD7FF969-8BC7-4BED-9A5C-51941BEE97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0AAA6773-8934-4D21-AE18-CF6616E111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61E4FC40-CDBC-45BA-9951-8B11330E42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91782-E84B-428D-A7BC-C5FA41E11413}" type="datetimeFigureOut">
              <a:rPr lang="cs-CZ" smtClean="0"/>
              <a:t>09.12.2025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20642654-C233-4B10-8FDF-829C13CF32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0D7174CF-DCC2-4017-B086-63E78C5D6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330C9-6AC8-4653-8873-EA2FBA5E4A43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1857693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3850796-CCBF-4CB5-9BF2-3827126F2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386417C2-BE61-4129-8CFA-E7C8B8E26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91782-E84B-428D-A7BC-C5FA41E11413}" type="datetimeFigureOut">
              <a:rPr lang="cs-CZ" smtClean="0"/>
              <a:t>09.12.2025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6212380C-FED2-4D68-B4B4-143BE621E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780742E9-7B44-457A-92A8-130856866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330C9-6AC8-4653-8873-EA2FBA5E4A43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2663672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37705F55-B777-431F-BC47-673C4F9954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91782-E84B-428D-A7BC-C5FA41E11413}" type="datetimeFigureOut">
              <a:rPr lang="cs-CZ" smtClean="0"/>
              <a:t>09.12.2025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6005657E-412E-4EA8-86B9-9C90D99E6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F36EC392-BB56-4D56-9875-32265862C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330C9-6AC8-4653-8873-EA2FBA5E4A43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0291376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B767CAD-F6C0-414D-82E9-667B5B13B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E813510-62E9-4DFF-91FC-4F2290081D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1D63C643-CF04-45B6-BE1B-8FB0CDED82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B7877E1E-D04F-4407-BE19-68888E609B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91782-E84B-428D-A7BC-C5FA41E11413}" type="datetimeFigureOut">
              <a:rPr lang="cs-CZ" smtClean="0"/>
              <a:t>09.12.2025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095B8958-1764-45DD-8566-14A7095B69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57443C60-D747-4EFC-B3A1-3F5AA8E3C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330C9-6AC8-4653-8873-EA2FBA5E4A43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309824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6C76F8F-7211-4FB1-A71F-B5A14791A6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07784CA4-9F23-43D2-8D65-6EA2C1D324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495B90FD-7344-4DB6-BF6D-AB9DD3BBC9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24929E28-CE5B-4457-8140-C1FE8F3740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91782-E84B-428D-A7BC-C5FA41E11413}" type="datetimeFigureOut">
              <a:rPr lang="cs-CZ" smtClean="0"/>
              <a:t>09.12.2025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4F2722F8-E98E-4D83-8347-A888C1135C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30F747BA-68AA-446C-8647-289377E64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330C9-6AC8-4653-8873-EA2FBA5E4A43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6556294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A363C64-C252-43C8-92E6-26F56AD0D9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75A2247E-ACE8-4DA1-A231-FB72615F95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069C3418-5499-4620-A122-3BE2F4F4D5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91782-E84B-428D-A7BC-C5FA41E11413}" type="datetimeFigureOut">
              <a:rPr lang="cs-CZ" smtClean="0"/>
              <a:t>09.12.2025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379E0184-957A-4933-898E-CA69E3EF37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83DA05B7-65D5-42D5-8B6B-52347DCC87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330C9-6AC8-4653-8873-EA2FBA5E4A43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9620367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E39E1F47-7110-4AA9-932E-A3C57F3251C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5B928D23-16C7-4BD6-8186-20992A63A7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69A60F2F-7BF3-43EB-A0F0-CE1038ACED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91782-E84B-428D-A7BC-C5FA41E11413}" type="datetimeFigureOut">
              <a:rPr lang="cs-CZ" smtClean="0"/>
              <a:t>09.12.2025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B41DDA01-2B33-470E-9AAA-3C768E88B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44CCD816-C204-4A48-B304-765746E0B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330C9-6AC8-4653-8873-EA2FBA5E4A43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4109569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721781C5-612D-4A0D-B1BC-CB76BED8B7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6855DD59-6513-4C01-9327-9B65174076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650FF03F-1661-4A3A-95A8-05B3165BDF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691782-E84B-428D-A7BC-C5FA41E11413}" type="datetimeFigureOut">
              <a:rPr lang="cs-CZ" smtClean="0"/>
              <a:t>09.12.2025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1ACF1A7C-6401-4759-B651-5AEA9E5A35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0E8E6A45-B4C9-4E11-9683-192FCC2109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D330C9-6AC8-4653-8873-EA2FBA5E4A43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3480011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verifee.ai/en.html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E9CC36F-7B27-447F-928C-711F160221C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800"/>
              <a:t>Cognitively Overloaded: </a:t>
            </a:r>
            <a:br>
              <a:rPr lang="cs-CZ" sz="4800"/>
            </a:br>
            <a:r>
              <a:rPr lang="en-US" sz="4800"/>
              <a:t>A Stylometric Perspective </a:t>
            </a:r>
            <a:br>
              <a:rPr lang="cs-CZ" sz="4800"/>
            </a:br>
            <a:r>
              <a:rPr lang="en-US" sz="4800"/>
              <a:t>of Czech Anti-Establishment Media </a:t>
            </a:r>
            <a:r>
              <a:rPr lang="cs-CZ" sz="4800"/>
              <a:t> 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7DE14FFD-E9CB-4BBC-8C80-BF52FC07CC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79944"/>
            <a:ext cx="9144000" cy="1655762"/>
          </a:xfrm>
        </p:spPr>
        <p:txBody>
          <a:bodyPr>
            <a:normAutofit lnSpcReduction="10000"/>
          </a:bodyPr>
          <a:lstStyle/>
          <a:p>
            <a:r>
              <a:rPr lang="cs-CZ"/>
              <a:t>Miroslav Kubát — </a:t>
            </a:r>
            <a:r>
              <a:rPr lang="cs-CZ" err="1"/>
              <a:t>Xinying</a:t>
            </a:r>
            <a:r>
              <a:rPr lang="cs-CZ"/>
              <a:t> </a:t>
            </a:r>
            <a:r>
              <a:rPr lang="cs-CZ" err="1"/>
              <a:t>Chen</a:t>
            </a:r>
            <a:r>
              <a:rPr lang="cs-CZ"/>
              <a:t> — </a:t>
            </a:r>
          </a:p>
          <a:p>
            <a:r>
              <a:rPr lang="cs-CZ"/>
              <a:t>Michaela </a:t>
            </a:r>
            <a:r>
              <a:rPr lang="cs-CZ" err="1"/>
              <a:t>Nogolová</a:t>
            </a:r>
            <a:r>
              <a:rPr lang="cs-CZ"/>
              <a:t> — Michal Místecký</a:t>
            </a:r>
          </a:p>
          <a:p>
            <a:endParaRPr lang="cs-CZ"/>
          </a:p>
          <a:p>
            <a:r>
              <a:rPr lang="cs-CZ"/>
              <a:t>Department </a:t>
            </a:r>
            <a:r>
              <a:rPr lang="cs-CZ" err="1"/>
              <a:t>of</a:t>
            </a:r>
            <a:r>
              <a:rPr lang="cs-CZ"/>
              <a:t> Czech </a:t>
            </a:r>
            <a:r>
              <a:rPr lang="cs-CZ" err="1"/>
              <a:t>Language</a:t>
            </a:r>
            <a:r>
              <a:rPr lang="cs-CZ"/>
              <a:t>, </a:t>
            </a:r>
            <a:r>
              <a:rPr lang="cs-CZ" err="1"/>
              <a:t>Faculty</a:t>
            </a:r>
            <a:r>
              <a:rPr lang="cs-CZ"/>
              <a:t> </a:t>
            </a:r>
            <a:r>
              <a:rPr lang="cs-CZ" err="1"/>
              <a:t>of</a:t>
            </a:r>
            <a:r>
              <a:rPr lang="cs-CZ"/>
              <a:t> </a:t>
            </a:r>
            <a:r>
              <a:rPr lang="cs-CZ" err="1"/>
              <a:t>Arts</a:t>
            </a:r>
            <a:r>
              <a:rPr lang="cs-CZ"/>
              <a:t>, University </a:t>
            </a:r>
            <a:r>
              <a:rPr lang="cs-CZ" err="1"/>
              <a:t>of</a:t>
            </a:r>
            <a:r>
              <a:rPr lang="cs-CZ"/>
              <a:t> Ostrava</a:t>
            </a:r>
          </a:p>
        </p:txBody>
      </p:sp>
    </p:spTree>
    <p:extLst>
      <p:ext uri="{BB962C8B-B14F-4D97-AF65-F5344CB8AC3E}">
        <p14:creationId xmlns:p14="http://schemas.microsoft.com/office/powerpoint/2010/main" val="40387654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adpis 3">
            <a:extLst>
              <a:ext uri="{FF2B5EF4-FFF2-40B4-BE49-F238E27FC236}">
                <a16:creationId xmlns:a16="http://schemas.microsoft.com/office/drawing/2014/main" id="{A30EEF50-2CF0-46EE-A8FE-D7C67E8768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511675"/>
          </a:xfrm>
        </p:spPr>
        <p:txBody>
          <a:bodyPr>
            <a:normAutofit/>
          </a:bodyPr>
          <a:lstStyle/>
          <a:p>
            <a:pPr algn="ctr"/>
            <a:r>
              <a:rPr lang="cs-CZ" sz="3600">
                <a:latin typeface="Calibri"/>
                <a:ea typeface="Calibri"/>
                <a:cs typeface="Times New Roman"/>
              </a:rPr>
              <a:t>„</a:t>
            </a:r>
            <a:r>
              <a:rPr lang="cs-CZ" sz="3600" err="1">
                <a:effectLst/>
                <a:latin typeface="Calibri"/>
                <a:ea typeface="Calibri"/>
                <a:cs typeface="Times New Roman"/>
              </a:rPr>
              <a:t>Biography</a:t>
            </a:r>
            <a:r>
              <a:rPr lang="cs-CZ" sz="3600">
                <a:effectLst/>
                <a:latin typeface="Calibri"/>
                <a:ea typeface="Calibri"/>
                <a:cs typeface="Times New Roman"/>
              </a:rPr>
              <a:t> </a:t>
            </a:r>
            <a:r>
              <a:rPr lang="cs-CZ" sz="3600" err="1">
                <a:effectLst/>
                <a:latin typeface="Calibri"/>
                <a:ea typeface="Calibri"/>
                <a:cs typeface="Times New Roman"/>
              </a:rPr>
              <a:t>of</a:t>
            </a:r>
            <a:r>
              <a:rPr lang="cs-CZ" sz="3600">
                <a:effectLst/>
                <a:latin typeface="Calibri"/>
                <a:ea typeface="Calibri"/>
                <a:cs typeface="Times New Roman"/>
              </a:rPr>
              <a:t> </a:t>
            </a:r>
            <a:r>
              <a:rPr lang="cs-CZ" sz="3600" err="1">
                <a:effectLst/>
                <a:latin typeface="Calibri"/>
                <a:ea typeface="Calibri"/>
                <a:cs typeface="Times New Roman"/>
              </a:rPr>
              <a:t>Fake</a:t>
            </a:r>
            <a:r>
              <a:rPr lang="cs-CZ" sz="3600">
                <a:effectLst/>
                <a:latin typeface="Calibri"/>
                <a:ea typeface="Calibri"/>
                <a:cs typeface="Times New Roman"/>
              </a:rPr>
              <a:t> </a:t>
            </a:r>
            <a:r>
              <a:rPr lang="cs-CZ" sz="3600" err="1">
                <a:effectLst/>
                <a:latin typeface="Calibri"/>
                <a:ea typeface="Calibri"/>
                <a:cs typeface="Times New Roman"/>
              </a:rPr>
              <a:t>News</a:t>
            </a:r>
            <a:r>
              <a:rPr lang="cs-CZ" sz="3600">
                <a:effectLst/>
                <a:latin typeface="Calibri"/>
                <a:ea typeface="Calibri"/>
                <a:cs typeface="Times New Roman"/>
              </a:rPr>
              <a:t> </a:t>
            </a:r>
            <a:r>
              <a:rPr lang="cs-CZ" sz="3600" err="1">
                <a:effectLst/>
                <a:latin typeface="Calibri"/>
                <a:ea typeface="Calibri"/>
                <a:cs typeface="Times New Roman"/>
              </a:rPr>
              <a:t>with</a:t>
            </a:r>
            <a:r>
              <a:rPr lang="cs-CZ" sz="3600">
                <a:effectLst/>
                <a:latin typeface="Calibri"/>
                <a:ea typeface="Calibri"/>
                <a:cs typeface="Times New Roman"/>
              </a:rPr>
              <a:t> a </a:t>
            </a:r>
            <a:r>
              <a:rPr lang="cs-CZ" sz="3600" err="1">
                <a:effectLst/>
                <a:latin typeface="Calibri"/>
                <a:ea typeface="Calibri"/>
                <a:cs typeface="Times New Roman"/>
              </a:rPr>
              <a:t>Touch</a:t>
            </a:r>
            <a:r>
              <a:rPr lang="cs-CZ" sz="3600">
                <a:effectLst/>
                <a:latin typeface="Calibri"/>
                <a:ea typeface="Calibri"/>
                <a:cs typeface="Times New Roman"/>
              </a:rPr>
              <a:t> </a:t>
            </a:r>
            <a:r>
              <a:rPr lang="cs-CZ" sz="3600" err="1">
                <a:effectLst/>
                <a:latin typeface="Calibri"/>
                <a:ea typeface="Calibri"/>
                <a:cs typeface="Times New Roman"/>
              </a:rPr>
              <a:t>of</a:t>
            </a:r>
            <a:r>
              <a:rPr lang="cs-CZ" sz="3600">
                <a:effectLst/>
                <a:latin typeface="Calibri"/>
                <a:ea typeface="Calibri"/>
                <a:cs typeface="Times New Roman"/>
              </a:rPr>
              <a:t> AI: </a:t>
            </a:r>
            <a:r>
              <a:rPr lang="cs-CZ" sz="3600" err="1">
                <a:effectLst/>
                <a:latin typeface="Calibri"/>
                <a:ea typeface="Calibri"/>
                <a:cs typeface="Times New Roman"/>
              </a:rPr>
              <a:t>Dangerous</a:t>
            </a:r>
            <a:r>
              <a:rPr lang="cs-CZ" sz="3600">
                <a:effectLst/>
                <a:latin typeface="Calibri"/>
                <a:ea typeface="Calibri"/>
                <a:cs typeface="Times New Roman"/>
              </a:rPr>
              <a:t> </a:t>
            </a:r>
            <a:r>
              <a:rPr lang="cs-CZ" sz="3600" err="1">
                <a:effectLst/>
                <a:latin typeface="Calibri"/>
                <a:ea typeface="Calibri"/>
                <a:cs typeface="Times New Roman"/>
              </a:rPr>
              <a:t>Phenomenon</a:t>
            </a:r>
            <a:r>
              <a:rPr lang="cs-CZ" sz="3600">
                <a:effectLst/>
                <a:latin typeface="Calibri"/>
                <a:ea typeface="Calibri"/>
                <a:cs typeface="Times New Roman"/>
              </a:rPr>
              <a:t> </a:t>
            </a:r>
            <a:r>
              <a:rPr lang="cs-CZ" sz="3600" err="1">
                <a:effectLst/>
                <a:latin typeface="Calibri"/>
                <a:ea typeface="Calibri"/>
                <a:cs typeface="Times New Roman"/>
              </a:rPr>
              <a:t>through</a:t>
            </a:r>
            <a:r>
              <a:rPr lang="cs-CZ" sz="3600">
                <a:effectLst/>
                <a:latin typeface="Calibri"/>
                <a:ea typeface="Calibri"/>
                <a:cs typeface="Times New Roman"/>
              </a:rPr>
              <a:t> </a:t>
            </a:r>
            <a:r>
              <a:rPr lang="cs-CZ" sz="3600" err="1">
                <a:effectLst/>
                <a:latin typeface="Calibri"/>
                <a:ea typeface="Calibri"/>
                <a:cs typeface="Times New Roman"/>
              </a:rPr>
              <a:t>the</a:t>
            </a:r>
            <a:r>
              <a:rPr lang="cs-CZ" sz="3600">
                <a:effectLst/>
                <a:latin typeface="Calibri"/>
                <a:ea typeface="Calibri"/>
                <a:cs typeface="Times New Roman"/>
              </a:rPr>
              <a:t> </a:t>
            </a:r>
            <a:r>
              <a:rPr lang="cs-CZ" sz="3600" err="1">
                <a:effectLst/>
                <a:latin typeface="Calibri"/>
                <a:ea typeface="Calibri"/>
                <a:cs typeface="Times New Roman"/>
              </a:rPr>
              <a:t>Prism</a:t>
            </a:r>
            <a:r>
              <a:rPr lang="cs-CZ" sz="3600">
                <a:effectLst/>
                <a:latin typeface="Calibri"/>
                <a:ea typeface="Calibri"/>
                <a:cs typeface="Times New Roman"/>
              </a:rPr>
              <a:t> </a:t>
            </a:r>
            <a:r>
              <a:rPr lang="cs-CZ" sz="3600" err="1">
                <a:effectLst/>
                <a:latin typeface="Calibri"/>
                <a:ea typeface="Calibri"/>
                <a:cs typeface="Times New Roman"/>
              </a:rPr>
              <a:t>of</a:t>
            </a:r>
            <a:r>
              <a:rPr lang="cs-CZ" sz="3600">
                <a:effectLst/>
                <a:latin typeface="Calibri"/>
                <a:ea typeface="Calibri"/>
                <a:cs typeface="Times New Roman"/>
              </a:rPr>
              <a:t> </a:t>
            </a:r>
            <a:r>
              <a:rPr lang="cs-CZ" sz="3600" err="1">
                <a:effectLst/>
                <a:latin typeface="Calibri"/>
                <a:ea typeface="Calibri"/>
                <a:cs typeface="Times New Roman"/>
              </a:rPr>
              <a:t>Modern</a:t>
            </a:r>
            <a:r>
              <a:rPr lang="cs-CZ" sz="3600">
                <a:effectLst/>
                <a:latin typeface="Calibri"/>
                <a:ea typeface="Calibri"/>
                <a:cs typeface="Times New Roman"/>
              </a:rPr>
              <a:t> </a:t>
            </a:r>
            <a:r>
              <a:rPr lang="cs-CZ" sz="3600" err="1">
                <a:effectLst/>
                <a:latin typeface="Calibri"/>
                <a:ea typeface="Calibri"/>
                <a:cs typeface="Times New Roman"/>
              </a:rPr>
              <a:t>Human</a:t>
            </a:r>
            <a:r>
              <a:rPr lang="cs-CZ" sz="3600">
                <a:effectLst/>
                <a:latin typeface="Calibri"/>
                <a:ea typeface="Calibri"/>
                <a:cs typeface="Times New Roman"/>
              </a:rPr>
              <a:t> </a:t>
            </a:r>
            <a:r>
              <a:rPr lang="cs-CZ" sz="3600" err="1">
                <a:effectLst/>
                <a:latin typeface="Calibri"/>
                <a:ea typeface="Calibri"/>
                <a:cs typeface="Times New Roman"/>
              </a:rPr>
              <a:t>Sciences</a:t>
            </a:r>
            <a:r>
              <a:rPr lang="cs-CZ" sz="3600">
                <a:latin typeface="Calibri"/>
                <a:ea typeface="Calibri"/>
                <a:cs typeface="Times New Roman"/>
              </a:rPr>
              <a:t>"</a:t>
            </a:r>
            <a:r>
              <a:rPr lang="cs-CZ" sz="3600">
                <a:effectLst/>
                <a:latin typeface="Calibri"/>
                <a:ea typeface="Calibri"/>
                <a:cs typeface="Times New Roman"/>
              </a:rPr>
              <a:t> </a:t>
            </a:r>
            <a:r>
              <a:rPr lang="cs-CZ" sz="3600" err="1">
                <a:effectLst/>
                <a:latin typeface="Calibri"/>
                <a:ea typeface="Calibri"/>
                <a:cs typeface="Times New Roman"/>
              </a:rPr>
              <a:t>project</a:t>
            </a:r>
            <a:r>
              <a:rPr lang="cs-CZ" sz="3600">
                <a:effectLst/>
                <a:latin typeface="Calibri"/>
                <a:ea typeface="Calibri"/>
                <a:cs typeface="Times New Roman"/>
              </a:rPr>
              <a:t> no.: CZ.02.01.01/00/23_025/0008724 via </a:t>
            </a:r>
            <a:r>
              <a:rPr lang="cs-CZ" sz="3600" err="1">
                <a:effectLst/>
                <a:latin typeface="Calibri"/>
                <a:ea typeface="Calibri"/>
                <a:cs typeface="Times New Roman"/>
              </a:rPr>
              <a:t>the</a:t>
            </a:r>
            <a:r>
              <a:rPr lang="cs-CZ" sz="3600">
                <a:effectLst/>
                <a:latin typeface="Calibri"/>
                <a:ea typeface="Calibri"/>
                <a:cs typeface="Times New Roman"/>
              </a:rPr>
              <a:t> </a:t>
            </a:r>
            <a:r>
              <a:rPr lang="cs-CZ" sz="3600" err="1">
                <a:effectLst/>
                <a:latin typeface="Calibri"/>
                <a:ea typeface="Calibri"/>
                <a:cs typeface="Times New Roman"/>
              </a:rPr>
              <a:t>Operational</a:t>
            </a:r>
            <a:r>
              <a:rPr lang="cs-CZ" sz="3600">
                <a:effectLst/>
                <a:latin typeface="Calibri"/>
                <a:ea typeface="Calibri"/>
                <a:cs typeface="Times New Roman"/>
              </a:rPr>
              <a:t> </a:t>
            </a:r>
            <a:r>
              <a:rPr lang="cs-CZ" sz="3600" err="1">
                <a:effectLst/>
                <a:latin typeface="Calibri"/>
                <a:ea typeface="Calibri"/>
                <a:cs typeface="Times New Roman"/>
              </a:rPr>
              <a:t>Programme</a:t>
            </a:r>
            <a:r>
              <a:rPr lang="cs-CZ" sz="3600">
                <a:effectLst/>
                <a:latin typeface="Calibri"/>
                <a:ea typeface="Calibri"/>
                <a:cs typeface="Times New Roman"/>
              </a:rPr>
              <a:t> Jan Ámos Komenský</a:t>
            </a:r>
            <a:r>
              <a:rPr lang="cs-CZ" sz="3600">
                <a:latin typeface="Calibri"/>
                <a:ea typeface="Calibri"/>
                <a:cs typeface="Times New Roman"/>
              </a:rPr>
              <a:t>.</a:t>
            </a:r>
            <a:endParaRPr lang="cs-CZ" sz="3600"/>
          </a:p>
        </p:txBody>
      </p:sp>
      <p:pic>
        <p:nvPicPr>
          <p:cNvPr id="7" name="Zástupný obsah 6">
            <a:extLst>
              <a:ext uri="{FF2B5EF4-FFF2-40B4-BE49-F238E27FC236}">
                <a16:creationId xmlns:a16="http://schemas.microsoft.com/office/drawing/2014/main" id="{73836E4D-068C-4523-8559-01536AA358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1745" y="5215203"/>
            <a:ext cx="7128510" cy="1009650"/>
          </a:xfrm>
        </p:spPr>
      </p:pic>
    </p:spTree>
    <p:extLst>
      <p:ext uri="{BB962C8B-B14F-4D97-AF65-F5344CB8AC3E}">
        <p14:creationId xmlns:p14="http://schemas.microsoft.com/office/powerpoint/2010/main" val="42630067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FE102C5-1681-47F2-B443-4A22F7EDA4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err="1"/>
              <a:t>Quantitative</a:t>
            </a:r>
            <a:r>
              <a:rPr lang="cs-CZ"/>
              <a:t> </a:t>
            </a:r>
            <a:r>
              <a:rPr lang="cs-CZ" err="1"/>
              <a:t>Linguistics</a:t>
            </a:r>
            <a:endParaRPr lang="cs-CZ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C075163-F7E8-49BC-971A-F40155789E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err="1"/>
              <a:t>intersubjectivity</a:t>
            </a:r>
            <a:r>
              <a:rPr lang="cs-CZ"/>
              <a:t> &gt; </a:t>
            </a:r>
            <a:r>
              <a:rPr lang="cs-CZ" err="1"/>
              <a:t>reduction</a:t>
            </a:r>
            <a:r>
              <a:rPr lang="cs-CZ"/>
              <a:t> </a:t>
            </a:r>
            <a:r>
              <a:rPr lang="cs-CZ" err="1"/>
              <a:t>of</a:t>
            </a:r>
            <a:r>
              <a:rPr lang="cs-CZ"/>
              <a:t> </a:t>
            </a:r>
            <a:r>
              <a:rPr lang="cs-CZ" err="1"/>
              <a:t>bias</a:t>
            </a:r>
            <a:endParaRPr lang="cs-CZ"/>
          </a:p>
          <a:p>
            <a:r>
              <a:rPr lang="cs-CZ" err="1"/>
              <a:t>comparable</a:t>
            </a:r>
            <a:r>
              <a:rPr lang="cs-CZ"/>
              <a:t> </a:t>
            </a:r>
            <a:r>
              <a:rPr lang="cs-CZ" err="1"/>
              <a:t>results</a:t>
            </a:r>
            <a:r>
              <a:rPr lang="cs-CZ"/>
              <a:t> </a:t>
            </a:r>
          </a:p>
          <a:p>
            <a:r>
              <a:rPr lang="cs-CZ"/>
              <a:t>universal </a:t>
            </a:r>
            <a:r>
              <a:rPr lang="cs-CZ" err="1"/>
              <a:t>methodologies</a:t>
            </a:r>
            <a:endParaRPr lang="cs-CZ"/>
          </a:p>
          <a:p>
            <a:r>
              <a:rPr lang="cs-CZ" err="1"/>
              <a:t>practical</a:t>
            </a:r>
            <a:r>
              <a:rPr lang="cs-CZ"/>
              <a:t> </a:t>
            </a:r>
            <a:r>
              <a:rPr lang="cs-CZ" err="1"/>
              <a:t>applications</a:t>
            </a:r>
            <a:r>
              <a:rPr lang="cs-CZ"/>
              <a:t> &gt; software </a:t>
            </a:r>
          </a:p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1313604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5574FCB-92F5-407F-AA0C-AFBEAD0830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err="1"/>
              <a:t>Off-project</a:t>
            </a:r>
            <a:r>
              <a:rPr lang="cs-CZ"/>
              <a:t> </a:t>
            </a:r>
            <a:r>
              <a:rPr lang="cs-CZ" err="1"/>
              <a:t>Insights</a:t>
            </a:r>
            <a:r>
              <a:rPr lang="cs-CZ"/>
              <a:t>: Case </a:t>
            </a:r>
            <a:r>
              <a:rPr lang="cs-CZ" err="1"/>
              <a:t>Shifts</a:t>
            </a:r>
            <a:r>
              <a:rPr lang="cs-CZ"/>
              <a:t> </a:t>
            </a:r>
            <a:r>
              <a:rPr lang="cs-CZ" err="1"/>
              <a:t>of</a:t>
            </a:r>
            <a:r>
              <a:rPr lang="cs-CZ"/>
              <a:t> </a:t>
            </a:r>
            <a:r>
              <a:rPr lang="cs-CZ" err="1"/>
              <a:t>Toponyms</a:t>
            </a:r>
            <a:r>
              <a:rPr lang="cs-CZ"/>
              <a:t> 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555206C3-B3B0-4F4B-9EA3-944A364A09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cs-CZ" err="1"/>
              <a:t>Eastern</a:t>
            </a:r>
            <a:r>
              <a:rPr lang="cs-CZ"/>
              <a:t> </a:t>
            </a:r>
            <a:r>
              <a:rPr lang="cs-CZ" err="1"/>
              <a:t>European</a:t>
            </a:r>
            <a:r>
              <a:rPr lang="cs-CZ"/>
              <a:t> </a:t>
            </a:r>
            <a:r>
              <a:rPr lang="cs-CZ" err="1"/>
              <a:t>states</a:t>
            </a:r>
            <a:endParaRPr lang="cs-CZ"/>
          </a:p>
          <a:p>
            <a:pPr lvl="1"/>
            <a:r>
              <a:rPr lang="cs-CZ" err="1"/>
              <a:t>Ukraine.NOM</a:t>
            </a:r>
            <a:r>
              <a:rPr lang="cs-CZ"/>
              <a:t> </a:t>
            </a:r>
          </a:p>
          <a:p>
            <a:pPr lvl="1"/>
            <a:r>
              <a:rPr lang="cs-CZ" err="1"/>
              <a:t>Russia.ACC</a:t>
            </a:r>
            <a:r>
              <a:rPr lang="cs-CZ"/>
              <a:t>, Russia.DAT</a:t>
            </a:r>
          </a:p>
          <a:p>
            <a:pPr lvl="1"/>
            <a:r>
              <a:rPr lang="cs-CZ" err="1"/>
              <a:t>Belarus.ACC</a:t>
            </a:r>
            <a:endParaRPr lang="cs-CZ"/>
          </a:p>
          <a:p>
            <a:pPr marL="0" indent="0">
              <a:buNone/>
            </a:pPr>
            <a:endParaRPr lang="cs-CZ"/>
          </a:p>
          <a:p>
            <a:r>
              <a:rPr lang="cs-CZ" err="1"/>
              <a:t>Israel</a:t>
            </a:r>
            <a:r>
              <a:rPr lang="cs-CZ"/>
              <a:t> vs. Gaza </a:t>
            </a:r>
          </a:p>
          <a:p>
            <a:pPr lvl="1"/>
            <a:r>
              <a:rPr lang="cs-CZ" err="1"/>
              <a:t>Israel.NOM</a:t>
            </a:r>
            <a:r>
              <a:rPr lang="cs-CZ"/>
              <a:t>, Israel.DAT</a:t>
            </a:r>
          </a:p>
          <a:p>
            <a:pPr lvl="1"/>
            <a:r>
              <a:rPr lang="cs-CZ" err="1"/>
              <a:t>Gaza.NOM</a:t>
            </a:r>
            <a:r>
              <a:rPr lang="cs-CZ"/>
              <a:t>, Gaza.DAT, </a:t>
            </a:r>
            <a:r>
              <a:rPr lang="cs-CZ" err="1"/>
              <a:t>Gaza.ACC</a:t>
            </a:r>
            <a:endParaRPr lang="cs-CZ"/>
          </a:p>
          <a:p>
            <a:endParaRPr lang="cs-CZ"/>
          </a:p>
          <a:p>
            <a:pPr marL="0" indent="0">
              <a:buNone/>
            </a:pPr>
            <a:r>
              <a:rPr lang="cs-CZ"/>
              <a:t>&gt; </a:t>
            </a:r>
            <a:r>
              <a:rPr lang="cs-CZ" err="1"/>
              <a:t>emotions</a:t>
            </a:r>
            <a:r>
              <a:rPr lang="cs-CZ"/>
              <a:t>, </a:t>
            </a:r>
            <a:r>
              <a:rPr lang="cs-CZ" err="1"/>
              <a:t>confrontational</a:t>
            </a:r>
            <a:r>
              <a:rPr lang="cs-CZ"/>
              <a:t> </a:t>
            </a:r>
            <a:r>
              <a:rPr lang="cs-CZ" err="1"/>
              <a:t>rhetoric</a:t>
            </a:r>
            <a:endParaRPr lang="cs-CZ"/>
          </a:p>
          <a:p>
            <a:pPr lvl="1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0674536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ek 2">
            <a:extLst>
              <a:ext uri="{FF2B5EF4-FFF2-40B4-BE49-F238E27FC236}">
                <a16:creationId xmlns:a16="http://schemas.microsoft.com/office/drawing/2014/main" id="{1F0450AD-CDA7-470D-A794-4BB579B8EF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494" y="814370"/>
            <a:ext cx="11055011" cy="5229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150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ek 2">
            <a:extLst>
              <a:ext uri="{FF2B5EF4-FFF2-40B4-BE49-F238E27FC236}">
                <a16:creationId xmlns:a16="http://schemas.microsoft.com/office/drawing/2014/main" id="{5FE934C8-1579-423C-B133-44A406BDF3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104" y="813600"/>
            <a:ext cx="10583792" cy="523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41609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8E8C370-843B-4D9B-B941-B20A60906D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Project Corpus</a:t>
            </a:r>
          </a:p>
        </p:txBody>
      </p:sp>
      <p:graphicFrame>
        <p:nvGraphicFramePr>
          <p:cNvPr id="5" name="Tabulka 4">
            <a:extLst>
              <a:ext uri="{FF2B5EF4-FFF2-40B4-BE49-F238E27FC236}">
                <a16:creationId xmlns:a16="http://schemas.microsoft.com/office/drawing/2014/main" id="{CD43EF96-EBEB-4DFB-A1DD-6C1C09B318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0574872"/>
              </p:ext>
            </p:extLst>
          </p:nvPr>
        </p:nvGraphicFramePr>
        <p:xfrm>
          <a:off x="838200" y="2721134"/>
          <a:ext cx="10515600" cy="2560320"/>
        </p:xfrm>
        <a:graphic>
          <a:graphicData uri="http://schemas.openxmlformats.org/drawingml/2006/table">
            <a:tbl>
              <a:tblPr>
                <a:tableStyleId>{D7AC3CCA-C797-4891-BE02-D94E43425B78}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4291091438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15474096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87909417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36837793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cs-CZ" b="1" err="1"/>
                        <a:t>Category</a:t>
                      </a:r>
                      <a:endParaRPr lang="cs-CZ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b="1" err="1"/>
                        <a:t>Characteristics</a:t>
                      </a:r>
                      <a:endParaRPr lang="cs-CZ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b="1" err="1"/>
                        <a:t>Articles</a:t>
                      </a:r>
                      <a:endParaRPr lang="cs-CZ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b="1"/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22837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cs-CZ" b="0" err="1"/>
                        <a:t>cred</a:t>
                      </a:r>
                      <a:endParaRPr lang="cs-CZ" b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cs-CZ" b="0" err="1"/>
                        <a:t>credible</a:t>
                      </a:r>
                      <a:r>
                        <a:rPr lang="cs-CZ" b="0"/>
                        <a:t> </a:t>
                      </a:r>
                      <a:r>
                        <a:rPr lang="cs-CZ" b="0" err="1"/>
                        <a:t>news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/>
                        <a:t>3,506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/>
                        <a:t>34.6%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8956955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cs-CZ" b="0" err="1"/>
                        <a:t>pacr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cs-CZ" b="0" err="1"/>
                        <a:t>partially</a:t>
                      </a:r>
                      <a:r>
                        <a:rPr lang="cs-CZ" b="0"/>
                        <a:t> </a:t>
                      </a:r>
                      <a:r>
                        <a:rPr lang="cs-CZ" b="0" err="1"/>
                        <a:t>credible</a:t>
                      </a:r>
                      <a:r>
                        <a:rPr lang="cs-CZ" b="0"/>
                        <a:t> </a:t>
                      </a:r>
                      <a:r>
                        <a:rPr lang="cs-CZ" b="0" err="1"/>
                        <a:t>news</a:t>
                      </a:r>
                      <a:endParaRPr lang="cs-CZ" b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/>
                        <a:t>2,564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/>
                        <a:t>25.3%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4951453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cs-CZ" b="0"/>
                        <a:t>mis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cs-CZ" b="0" err="1"/>
                        <a:t>misleading</a:t>
                      </a:r>
                      <a:r>
                        <a:rPr lang="cs-CZ" b="0"/>
                        <a:t> </a:t>
                      </a:r>
                      <a:r>
                        <a:rPr lang="cs-CZ" b="0" err="1"/>
                        <a:t>news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/>
                        <a:t>1,511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/>
                        <a:t>14.9%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8424506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cs-CZ" b="0"/>
                        <a:t>man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cs-CZ" b="0" err="1"/>
                        <a:t>manipulative</a:t>
                      </a:r>
                      <a:r>
                        <a:rPr lang="cs-CZ" b="0"/>
                        <a:t> </a:t>
                      </a:r>
                      <a:r>
                        <a:rPr lang="cs-CZ" b="0" err="1"/>
                        <a:t>news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/>
                        <a:t>1,840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/>
                        <a:t>18.2%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646796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cs-CZ" b="0" err="1"/>
                        <a:t>uncl</a:t>
                      </a:r>
                      <a:endParaRPr lang="cs-CZ" b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cs-CZ" b="0" err="1"/>
                        <a:t>unclassifiable</a:t>
                      </a:r>
                      <a:r>
                        <a:rPr lang="cs-CZ" b="0"/>
                        <a:t> </a:t>
                      </a:r>
                      <a:r>
                        <a:rPr lang="cs-CZ" b="0" err="1"/>
                        <a:t>news</a:t>
                      </a:r>
                      <a:endParaRPr lang="cs-CZ" b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/>
                        <a:t>695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/>
                        <a:t>6.9%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96051728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/>
                      <a:r>
                        <a:rPr lang="cs-CZ" b="0" err="1"/>
                        <a:t>Total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r>
                        <a:rPr lang="cs-CZ"/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b="0"/>
                        <a:t>10,116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/>
                        <a:t>100%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32800305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CF5D89E9-9797-524C-4377-01EC904B4FE8}"/>
              </a:ext>
            </a:extLst>
          </p:cNvPr>
          <p:cNvSpPr txBox="1"/>
          <p:nvPr/>
        </p:nvSpPr>
        <p:spPr>
          <a:xfrm>
            <a:off x="4029206" y="1685794"/>
            <a:ext cx="4133589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>
                <a:ea typeface="+mn-lt"/>
                <a:cs typeface="+mn-lt"/>
                <a:hlinkClick r:id="rId2"/>
              </a:rPr>
              <a:t>https://verifee.ai/en.html</a:t>
            </a:r>
            <a:r>
              <a:rPr lang="en-US" sz="2400">
                <a:ea typeface="+mn-lt"/>
                <a:cs typeface="+mn-lt"/>
              </a:rPr>
              <a:t> </a:t>
            </a:r>
            <a:endParaRPr lang="en-US" sz="2400"/>
          </a:p>
          <a:p>
            <a:pPr algn="ctr"/>
            <a:endParaRPr lang="en-US" sz="240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118342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20F0294-CC9A-4FD1-BD14-EC662DB4F2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err="1"/>
              <a:t>Results</a:t>
            </a:r>
            <a:endParaRPr lang="cs-CZ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8E151242-4A46-4CF0-986A-E5E9E55626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36540"/>
          </a:xfrm>
        </p:spPr>
        <p:txBody>
          <a:bodyPr>
            <a:normAutofit fontScale="92500" lnSpcReduction="20000"/>
          </a:bodyPr>
          <a:lstStyle/>
          <a:p>
            <a:r>
              <a:rPr lang="cs-CZ" err="1"/>
              <a:t>morphology</a:t>
            </a:r>
            <a:r>
              <a:rPr lang="cs-CZ"/>
              <a:t> </a:t>
            </a:r>
          </a:p>
          <a:p>
            <a:pPr lvl="1"/>
            <a:r>
              <a:rPr lang="cs-CZ"/>
              <a:t>more </a:t>
            </a:r>
            <a:r>
              <a:rPr lang="cs-CZ" err="1"/>
              <a:t>pronouns</a:t>
            </a:r>
            <a:r>
              <a:rPr lang="cs-CZ"/>
              <a:t>, </a:t>
            </a:r>
            <a:r>
              <a:rPr lang="cs-CZ" err="1"/>
              <a:t>conjunctions</a:t>
            </a:r>
            <a:r>
              <a:rPr lang="cs-CZ"/>
              <a:t>, </a:t>
            </a:r>
            <a:r>
              <a:rPr lang="cs-CZ" err="1"/>
              <a:t>punctuation</a:t>
            </a:r>
            <a:r>
              <a:rPr lang="cs-CZ"/>
              <a:t>, </a:t>
            </a:r>
            <a:r>
              <a:rPr lang="cs-CZ" err="1"/>
              <a:t>datives</a:t>
            </a:r>
            <a:r>
              <a:rPr lang="cs-CZ"/>
              <a:t>, </a:t>
            </a:r>
            <a:r>
              <a:rPr lang="cs-CZ" err="1"/>
              <a:t>vocatives</a:t>
            </a:r>
            <a:endParaRPr lang="cs-CZ"/>
          </a:p>
          <a:p>
            <a:pPr lvl="1"/>
            <a:r>
              <a:rPr lang="cs-CZ" err="1"/>
              <a:t>fewer</a:t>
            </a:r>
            <a:r>
              <a:rPr lang="cs-CZ"/>
              <a:t> </a:t>
            </a:r>
            <a:r>
              <a:rPr lang="cs-CZ" err="1"/>
              <a:t>nouns</a:t>
            </a:r>
            <a:r>
              <a:rPr lang="cs-CZ"/>
              <a:t>, </a:t>
            </a:r>
            <a:r>
              <a:rPr lang="cs-CZ" err="1"/>
              <a:t>numerals</a:t>
            </a:r>
            <a:r>
              <a:rPr lang="cs-CZ"/>
              <a:t>, </a:t>
            </a:r>
            <a:r>
              <a:rPr lang="cs-CZ" err="1"/>
              <a:t>prepositions</a:t>
            </a:r>
            <a:endParaRPr lang="cs-CZ"/>
          </a:p>
          <a:p>
            <a:pPr lvl="1"/>
            <a:r>
              <a:rPr lang="cs-CZ" err="1"/>
              <a:t>stylistic</a:t>
            </a:r>
            <a:r>
              <a:rPr lang="cs-CZ"/>
              <a:t> heterogenity </a:t>
            </a:r>
          </a:p>
          <a:p>
            <a:r>
              <a:rPr lang="cs-CZ"/>
              <a:t>syntax</a:t>
            </a:r>
          </a:p>
          <a:p>
            <a:pPr lvl="1"/>
            <a:r>
              <a:rPr lang="cs-CZ" err="1"/>
              <a:t>higher</a:t>
            </a:r>
            <a:r>
              <a:rPr lang="cs-CZ"/>
              <a:t> </a:t>
            </a:r>
            <a:r>
              <a:rPr lang="cs-CZ" err="1"/>
              <a:t>mean</a:t>
            </a:r>
            <a:r>
              <a:rPr lang="cs-CZ"/>
              <a:t> </a:t>
            </a:r>
            <a:r>
              <a:rPr lang="cs-CZ" err="1"/>
              <a:t>dependency</a:t>
            </a:r>
            <a:r>
              <a:rPr lang="cs-CZ"/>
              <a:t> distance, </a:t>
            </a:r>
            <a:r>
              <a:rPr lang="cs-CZ" err="1"/>
              <a:t>mean</a:t>
            </a:r>
            <a:r>
              <a:rPr lang="cs-CZ"/>
              <a:t> </a:t>
            </a:r>
            <a:r>
              <a:rPr lang="cs-CZ" err="1"/>
              <a:t>hierarchical</a:t>
            </a:r>
            <a:r>
              <a:rPr lang="cs-CZ"/>
              <a:t> distance</a:t>
            </a:r>
          </a:p>
          <a:p>
            <a:pPr lvl="1"/>
            <a:r>
              <a:rPr lang="cs-CZ" err="1"/>
              <a:t>shorter</a:t>
            </a:r>
            <a:r>
              <a:rPr lang="cs-CZ"/>
              <a:t> </a:t>
            </a:r>
            <a:r>
              <a:rPr lang="cs-CZ" err="1"/>
              <a:t>clauses</a:t>
            </a:r>
            <a:endParaRPr lang="cs-CZ"/>
          </a:p>
          <a:p>
            <a:pPr lvl="1"/>
            <a:r>
              <a:rPr lang="cs-CZ"/>
              <a:t>more </a:t>
            </a:r>
            <a:r>
              <a:rPr lang="cs-CZ" err="1"/>
              <a:t>diversified</a:t>
            </a:r>
            <a:r>
              <a:rPr lang="cs-CZ"/>
              <a:t> </a:t>
            </a:r>
            <a:r>
              <a:rPr lang="cs-CZ" err="1"/>
              <a:t>results</a:t>
            </a:r>
            <a:endParaRPr lang="cs-CZ"/>
          </a:p>
          <a:p>
            <a:r>
              <a:rPr lang="cs-CZ" err="1"/>
              <a:t>lexis</a:t>
            </a:r>
            <a:endParaRPr lang="cs-CZ"/>
          </a:p>
          <a:p>
            <a:pPr lvl="1"/>
            <a:r>
              <a:rPr lang="cs-CZ"/>
              <a:t>more </a:t>
            </a:r>
            <a:r>
              <a:rPr lang="cs-CZ" err="1"/>
              <a:t>complex</a:t>
            </a:r>
            <a:r>
              <a:rPr lang="cs-CZ"/>
              <a:t> </a:t>
            </a:r>
            <a:r>
              <a:rPr lang="cs-CZ" err="1"/>
              <a:t>vocabulary</a:t>
            </a:r>
            <a:r>
              <a:rPr lang="cs-CZ"/>
              <a:t> </a:t>
            </a:r>
          </a:p>
          <a:p>
            <a:pPr lvl="1"/>
            <a:r>
              <a:rPr lang="cs-CZ" err="1"/>
              <a:t>fewer</a:t>
            </a:r>
            <a:r>
              <a:rPr lang="cs-CZ"/>
              <a:t> </a:t>
            </a:r>
            <a:r>
              <a:rPr lang="cs-CZ" err="1"/>
              <a:t>original</a:t>
            </a:r>
            <a:r>
              <a:rPr lang="cs-CZ"/>
              <a:t> </a:t>
            </a:r>
            <a:r>
              <a:rPr lang="cs-CZ" err="1"/>
              <a:t>lexical</a:t>
            </a:r>
            <a:r>
              <a:rPr lang="cs-CZ"/>
              <a:t> </a:t>
            </a:r>
            <a:r>
              <a:rPr lang="cs-CZ" err="1"/>
              <a:t>bigrams</a:t>
            </a:r>
            <a:endParaRPr lang="cs-CZ"/>
          </a:p>
          <a:p>
            <a:pPr marL="0" indent="0">
              <a:buNone/>
            </a:pPr>
            <a:endParaRPr lang="cs-CZ"/>
          </a:p>
          <a:p>
            <a:pPr marL="0" indent="0">
              <a:buNone/>
            </a:pPr>
            <a:r>
              <a:rPr lang="cs-CZ"/>
              <a:t>&gt; more </a:t>
            </a:r>
            <a:r>
              <a:rPr lang="cs-CZ" err="1"/>
              <a:t>complex</a:t>
            </a:r>
            <a:r>
              <a:rPr lang="cs-CZ"/>
              <a:t> on most </a:t>
            </a:r>
            <a:r>
              <a:rPr lang="cs-CZ" err="1"/>
              <a:t>levels</a:t>
            </a:r>
            <a:r>
              <a:rPr lang="cs-CZ"/>
              <a:t>, </a:t>
            </a:r>
            <a:r>
              <a:rPr lang="cs-CZ" err="1"/>
              <a:t>elaborated</a:t>
            </a:r>
            <a:r>
              <a:rPr lang="cs-CZ"/>
              <a:t> </a:t>
            </a:r>
            <a:r>
              <a:rPr lang="cs-CZ" err="1"/>
              <a:t>narratives</a:t>
            </a:r>
            <a:r>
              <a:rPr lang="cs-CZ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8699449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ek 2">
            <a:extLst>
              <a:ext uri="{FF2B5EF4-FFF2-40B4-BE49-F238E27FC236}">
                <a16:creationId xmlns:a16="http://schemas.microsoft.com/office/drawing/2014/main" id="{5725FD7A-E39B-4AD9-8FA5-A85E221EF9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8850" y="122307"/>
            <a:ext cx="7734300" cy="6613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54158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AB1B30C-E119-47DE-8C90-1F981114B7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err="1"/>
              <a:t>Papers</a:t>
            </a:r>
            <a:endParaRPr lang="cs-CZ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F1B17125-67A6-4A7C-8A7E-232D45DF91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667251"/>
          </a:xfrm>
        </p:spPr>
        <p:txBody>
          <a:bodyPr>
            <a:normAutofit fontScale="85000" lnSpcReduction="10000"/>
          </a:bodyPr>
          <a:lstStyle/>
          <a:p>
            <a:pPr algn="just"/>
            <a:r>
              <a:rPr lang="cs-CZ"/>
              <a:t>Fidler, M., &amp; Cvrček, V. (2018). </a:t>
            </a:r>
            <a:r>
              <a:rPr lang="cs-CZ" err="1"/>
              <a:t>Going</a:t>
            </a:r>
            <a:r>
              <a:rPr lang="cs-CZ"/>
              <a:t> </a:t>
            </a:r>
            <a:r>
              <a:rPr lang="cs-CZ" err="1"/>
              <a:t>beyond</a:t>
            </a:r>
            <a:r>
              <a:rPr lang="cs-CZ"/>
              <a:t> “</a:t>
            </a:r>
            <a:r>
              <a:rPr lang="cs-CZ" err="1"/>
              <a:t>aboutness</a:t>
            </a:r>
            <a:r>
              <a:rPr lang="cs-CZ"/>
              <a:t>”: A </a:t>
            </a:r>
            <a:r>
              <a:rPr lang="cs-CZ" err="1"/>
              <a:t>quantitative</a:t>
            </a:r>
            <a:r>
              <a:rPr lang="cs-CZ"/>
              <a:t> </a:t>
            </a:r>
            <a:r>
              <a:rPr lang="cs-CZ" err="1"/>
              <a:t>analysis</a:t>
            </a:r>
            <a:r>
              <a:rPr lang="cs-CZ"/>
              <a:t> </a:t>
            </a:r>
            <a:r>
              <a:rPr lang="cs-CZ" err="1"/>
              <a:t>of</a:t>
            </a:r>
            <a:r>
              <a:rPr lang="cs-CZ"/>
              <a:t> Sputnik Czech Republic. In M. Fidler &amp; V. Cvrček (</a:t>
            </a:r>
            <a:r>
              <a:rPr lang="cs-CZ" err="1"/>
              <a:t>Eds</a:t>
            </a:r>
            <a:r>
              <a:rPr lang="cs-CZ"/>
              <a:t>.), </a:t>
            </a:r>
            <a:r>
              <a:rPr lang="cs-CZ" i="1" err="1"/>
              <a:t>Taming</a:t>
            </a:r>
            <a:r>
              <a:rPr lang="cs-CZ" i="1"/>
              <a:t> </a:t>
            </a:r>
            <a:r>
              <a:rPr lang="cs-CZ" i="1" err="1"/>
              <a:t>the</a:t>
            </a:r>
            <a:r>
              <a:rPr lang="cs-CZ" i="1"/>
              <a:t> corpus: </a:t>
            </a:r>
            <a:r>
              <a:rPr lang="cs-CZ" i="1" err="1"/>
              <a:t>From</a:t>
            </a:r>
            <a:r>
              <a:rPr lang="cs-CZ" i="1"/>
              <a:t> </a:t>
            </a:r>
            <a:r>
              <a:rPr lang="cs-CZ" i="1" err="1"/>
              <a:t>inflection</a:t>
            </a:r>
            <a:r>
              <a:rPr lang="cs-CZ" i="1"/>
              <a:t> and </a:t>
            </a:r>
            <a:r>
              <a:rPr lang="cs-CZ" i="1" err="1"/>
              <a:t>lexis</a:t>
            </a:r>
            <a:r>
              <a:rPr lang="cs-CZ" i="1"/>
              <a:t> to </a:t>
            </a:r>
            <a:r>
              <a:rPr lang="cs-CZ" i="1" err="1"/>
              <a:t>interpretation</a:t>
            </a:r>
            <a:r>
              <a:rPr lang="cs-CZ"/>
              <a:t> (pp. 195–225). </a:t>
            </a:r>
            <a:r>
              <a:rPr lang="cs-CZ" err="1"/>
              <a:t>Springer</a:t>
            </a:r>
            <a:r>
              <a:rPr lang="cs-CZ"/>
              <a:t>.</a:t>
            </a:r>
          </a:p>
          <a:p>
            <a:pPr algn="just"/>
            <a:r>
              <a:rPr lang="cs-CZ"/>
              <a:t>Místecký, M. (2025). Rétorická konfliktnost: Antisystémová média v korpusu ONLINE1 z perspektivy slovních druhů [</a:t>
            </a:r>
            <a:r>
              <a:rPr lang="cs-CZ" err="1"/>
              <a:t>Rhetoric</a:t>
            </a:r>
            <a:r>
              <a:rPr lang="cs-CZ"/>
              <a:t> </a:t>
            </a:r>
            <a:r>
              <a:rPr lang="cs-CZ" err="1"/>
              <a:t>confliction</a:t>
            </a:r>
            <a:r>
              <a:rPr lang="cs-CZ"/>
              <a:t>. Anti-establishment media in </a:t>
            </a:r>
            <a:r>
              <a:rPr lang="cs-CZ" err="1"/>
              <a:t>the</a:t>
            </a:r>
            <a:r>
              <a:rPr lang="cs-CZ"/>
              <a:t> ONLINE1 corpus </a:t>
            </a:r>
            <a:r>
              <a:rPr lang="cs-CZ" err="1"/>
              <a:t>from</a:t>
            </a:r>
            <a:r>
              <a:rPr lang="cs-CZ"/>
              <a:t> </a:t>
            </a:r>
            <a:r>
              <a:rPr lang="cs-CZ" err="1"/>
              <a:t>the</a:t>
            </a:r>
            <a:r>
              <a:rPr lang="cs-CZ"/>
              <a:t> </a:t>
            </a:r>
            <a:r>
              <a:rPr lang="cs-CZ" err="1"/>
              <a:t>perspective</a:t>
            </a:r>
            <a:r>
              <a:rPr lang="cs-CZ"/>
              <a:t> </a:t>
            </a:r>
            <a:r>
              <a:rPr lang="cs-CZ" err="1"/>
              <a:t>of</a:t>
            </a:r>
            <a:r>
              <a:rPr lang="cs-CZ"/>
              <a:t> </a:t>
            </a:r>
            <a:r>
              <a:rPr lang="cs-CZ" err="1"/>
              <a:t>parts</a:t>
            </a:r>
            <a:r>
              <a:rPr lang="cs-CZ"/>
              <a:t> </a:t>
            </a:r>
            <a:r>
              <a:rPr lang="cs-CZ" err="1"/>
              <a:t>of</a:t>
            </a:r>
            <a:r>
              <a:rPr lang="cs-CZ"/>
              <a:t> </a:t>
            </a:r>
            <a:r>
              <a:rPr lang="cs-CZ" err="1"/>
              <a:t>speech</a:t>
            </a:r>
            <a:r>
              <a:rPr lang="cs-CZ"/>
              <a:t>]. In M. Škrabal, H. Skoumalová, &amp; B. Štěpánová (</a:t>
            </a:r>
            <a:r>
              <a:rPr lang="cs-CZ" err="1"/>
              <a:t>Eds</a:t>
            </a:r>
            <a:r>
              <a:rPr lang="cs-CZ"/>
              <a:t>.), </a:t>
            </a:r>
            <a:r>
              <a:rPr lang="cs-CZ" i="1" err="1"/>
              <a:t>Festschrift</a:t>
            </a:r>
            <a:r>
              <a:rPr lang="cs-CZ" i="1"/>
              <a:t> k 30. výročí ČNK</a:t>
            </a:r>
            <a:r>
              <a:rPr lang="cs-CZ"/>
              <a:t> (pp. 24–37). Nakladatelství Lidové noviny [to </a:t>
            </a:r>
            <a:r>
              <a:rPr lang="cs-CZ" err="1"/>
              <a:t>be</a:t>
            </a:r>
            <a:r>
              <a:rPr lang="cs-CZ"/>
              <a:t> </a:t>
            </a:r>
            <a:r>
              <a:rPr lang="cs-CZ" err="1"/>
              <a:t>published</a:t>
            </a:r>
            <a:r>
              <a:rPr lang="cs-CZ"/>
              <a:t>].</a:t>
            </a:r>
          </a:p>
          <a:p>
            <a:pPr algn="just"/>
            <a:r>
              <a:rPr lang="en-US"/>
              <a:t>Místecký, M., &amp; David, J. (2025). Locatives lost: Case distributions of toponyms in anti-establishment media.</a:t>
            </a:r>
            <a:r>
              <a:rPr lang="en-US" i="1"/>
              <a:t> </a:t>
            </a:r>
            <a:r>
              <a:rPr lang="en-US" i="1" err="1"/>
              <a:t>Onoma</a:t>
            </a:r>
            <a:r>
              <a:rPr lang="en-US"/>
              <a:t>, 60, 125–140</a:t>
            </a:r>
            <a:r>
              <a:rPr lang="cs-CZ"/>
              <a:t> [to </a:t>
            </a:r>
            <a:r>
              <a:rPr lang="cs-CZ" err="1"/>
              <a:t>be</a:t>
            </a:r>
            <a:r>
              <a:rPr lang="cs-CZ"/>
              <a:t> </a:t>
            </a:r>
            <a:r>
              <a:rPr lang="cs-CZ" err="1"/>
              <a:t>published</a:t>
            </a:r>
            <a:r>
              <a:rPr lang="cs-CZ"/>
              <a:t>].</a:t>
            </a:r>
          </a:p>
          <a:p>
            <a:pPr algn="just"/>
            <a:r>
              <a:rPr lang="cs-CZ"/>
              <a:t>Maléř, M. &amp; Místecký, M. </a:t>
            </a:r>
            <a:r>
              <a:rPr lang="en-US"/>
              <a:t>Israel and Gaza in Mainstream and Anti-establishment Journalism: A Quantitative Linguistic Analysis of Selected Czech Media</a:t>
            </a:r>
            <a:r>
              <a:rPr lang="cs-CZ"/>
              <a:t> [to </a:t>
            </a:r>
            <a:r>
              <a:rPr lang="cs-CZ" err="1"/>
              <a:t>be</a:t>
            </a:r>
            <a:r>
              <a:rPr lang="cs-CZ"/>
              <a:t> </a:t>
            </a:r>
            <a:r>
              <a:rPr lang="cs-CZ" err="1"/>
              <a:t>submitted</a:t>
            </a:r>
            <a:r>
              <a:rPr lang="cs-CZ"/>
              <a:t> to </a:t>
            </a:r>
            <a:r>
              <a:rPr lang="cs-CZ" i="1" err="1"/>
              <a:t>Israel</a:t>
            </a:r>
            <a:r>
              <a:rPr lang="cs-CZ" i="1"/>
              <a:t> </a:t>
            </a:r>
            <a:r>
              <a:rPr lang="cs-CZ" i="1" err="1"/>
              <a:t>Studies</a:t>
            </a:r>
            <a:r>
              <a:rPr lang="cs-CZ"/>
              <a:t>].</a:t>
            </a:r>
            <a:endParaRPr lang="en-US"/>
          </a:p>
          <a:p>
            <a:pPr algn="just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3231445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C8A7E53-199C-4E8D-8FAC-3EB8241186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err="1"/>
              <a:t>Opening</a:t>
            </a:r>
            <a:r>
              <a:rPr lang="cs-CZ"/>
              <a:t>: </a:t>
            </a:r>
            <a:r>
              <a:rPr lang="cs-CZ" err="1"/>
              <a:t>Researching</a:t>
            </a:r>
            <a:r>
              <a:rPr lang="cs-CZ"/>
              <a:t> Absence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4074B67-D073-459C-8918-4F97A73F8D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err="1"/>
              <a:t>missing</a:t>
            </a:r>
            <a:r>
              <a:rPr lang="cs-CZ"/>
              <a:t> </a:t>
            </a:r>
            <a:r>
              <a:rPr lang="cs-CZ" err="1"/>
              <a:t>characteristics</a:t>
            </a:r>
            <a:r>
              <a:rPr lang="cs-CZ"/>
              <a:t> (</a:t>
            </a:r>
            <a:r>
              <a:rPr lang="cs-CZ" err="1"/>
              <a:t>nouns</a:t>
            </a:r>
            <a:r>
              <a:rPr lang="cs-CZ"/>
              <a:t>, </a:t>
            </a:r>
            <a:r>
              <a:rPr lang="cs-CZ" err="1"/>
              <a:t>numerals</a:t>
            </a:r>
            <a:r>
              <a:rPr lang="cs-CZ"/>
              <a:t>, </a:t>
            </a:r>
            <a:r>
              <a:rPr lang="cs-CZ" err="1"/>
              <a:t>prepositions</a:t>
            </a:r>
            <a:r>
              <a:rPr lang="cs-CZ"/>
              <a:t>, </a:t>
            </a:r>
            <a:r>
              <a:rPr lang="cs-CZ" err="1"/>
              <a:t>locatives</a:t>
            </a:r>
            <a:r>
              <a:rPr lang="cs-CZ"/>
              <a:t>) </a:t>
            </a:r>
          </a:p>
          <a:p>
            <a:r>
              <a:rPr lang="cs-CZ"/>
              <a:t>anti-</a:t>
            </a:r>
            <a:r>
              <a:rPr lang="cs-CZ" err="1"/>
              <a:t>keywords</a:t>
            </a:r>
            <a:endParaRPr lang="cs-CZ"/>
          </a:p>
          <a:p>
            <a:r>
              <a:rPr lang="cs-CZ" err="1"/>
              <a:t>missing</a:t>
            </a:r>
            <a:r>
              <a:rPr lang="cs-CZ"/>
              <a:t> </a:t>
            </a:r>
            <a:r>
              <a:rPr lang="cs-CZ" err="1"/>
              <a:t>words</a:t>
            </a:r>
            <a:r>
              <a:rPr lang="cs-CZ"/>
              <a:t> </a:t>
            </a:r>
            <a:r>
              <a:rPr lang="cs-CZ" err="1"/>
              <a:t>from</a:t>
            </a:r>
            <a:r>
              <a:rPr lang="cs-CZ"/>
              <a:t> a </a:t>
            </a:r>
            <a:r>
              <a:rPr lang="cs-CZ" err="1"/>
              <a:t>particular</a:t>
            </a:r>
            <a:r>
              <a:rPr lang="cs-CZ"/>
              <a:t> </a:t>
            </a:r>
            <a:r>
              <a:rPr lang="cs-CZ" err="1"/>
              <a:t>group</a:t>
            </a:r>
            <a:r>
              <a:rPr lang="cs-CZ"/>
              <a:t> (</a:t>
            </a:r>
            <a:r>
              <a:rPr lang="cs-CZ" err="1"/>
              <a:t>e.g</a:t>
            </a:r>
            <a:r>
              <a:rPr lang="cs-CZ"/>
              <a:t>., academia) </a:t>
            </a:r>
          </a:p>
          <a:p>
            <a:r>
              <a:rPr lang="cs-CZ" err="1"/>
              <a:t>missing</a:t>
            </a:r>
            <a:r>
              <a:rPr lang="cs-CZ"/>
              <a:t> </a:t>
            </a:r>
            <a:r>
              <a:rPr lang="cs-CZ" err="1"/>
              <a:t>collocates</a:t>
            </a:r>
            <a:r>
              <a:rPr lang="cs-CZ"/>
              <a:t>   </a:t>
            </a:r>
          </a:p>
          <a:p>
            <a:pPr lvl="1"/>
            <a:r>
              <a:rPr lang="cs-CZ" err="1"/>
              <a:t>collocational</a:t>
            </a:r>
            <a:r>
              <a:rPr lang="cs-CZ"/>
              <a:t> stability</a:t>
            </a:r>
          </a:p>
          <a:p>
            <a:pPr lvl="1"/>
            <a:r>
              <a:rPr lang="cs-CZ"/>
              <a:t>rank stability </a:t>
            </a:r>
          </a:p>
        </p:txBody>
      </p:sp>
    </p:spTree>
    <p:extLst>
      <p:ext uri="{BB962C8B-B14F-4D97-AF65-F5344CB8AC3E}">
        <p14:creationId xmlns:p14="http://schemas.microsoft.com/office/powerpoint/2010/main" val="28408017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ek 2">
            <a:extLst>
              <a:ext uri="{FF2B5EF4-FFF2-40B4-BE49-F238E27FC236}">
                <a16:creationId xmlns:a16="http://schemas.microsoft.com/office/drawing/2014/main" id="{32EC9AD0-F65B-4020-ADA1-CC54B7E36D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2687" y="213055"/>
            <a:ext cx="7286625" cy="6431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713373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ec82bc31-59c0-453d-bb82-3e5344493481" xsi:nil="true"/>
    <lcf76f155ced4ddcb4097134ff3c332f xmlns="1b41977e-0841-4577-b70a-f4d00a802919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5BC1BA6B6AD2AA4DBCB54B003502224B" ma:contentTypeVersion="11" ma:contentTypeDescription="Vytvoří nový dokument" ma:contentTypeScope="" ma:versionID="bbf5f942e1cd052770ed3092920f824a">
  <xsd:schema xmlns:xsd="http://www.w3.org/2001/XMLSchema" xmlns:xs="http://www.w3.org/2001/XMLSchema" xmlns:p="http://schemas.microsoft.com/office/2006/metadata/properties" xmlns:ns2="1b41977e-0841-4577-b70a-f4d00a802919" xmlns:ns3="ec82bc31-59c0-453d-bb82-3e5344493481" targetNamespace="http://schemas.microsoft.com/office/2006/metadata/properties" ma:root="true" ma:fieldsID="f1d882022c6507c4fb08a4ad74cdb345" ns2:_="" ns3:_="">
    <xsd:import namespace="1b41977e-0841-4577-b70a-f4d00a802919"/>
    <xsd:import namespace="ec82bc31-59c0-453d-bb82-3e534449348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b41977e-0841-4577-b70a-f4d00a80291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Značky obrázků" ma:readOnly="false" ma:fieldId="{5cf76f15-5ced-4ddc-b409-7134ff3c332f}" ma:taxonomyMulti="true" ma:sspId="004672d3-7d29-4d9c-b46b-a533caa3f2f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c82bc31-59c0-453d-bb82-3e5344493481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82bc4f51-0609-4b60-841a-0156206dfeb6}" ma:internalName="TaxCatchAll" ma:showField="CatchAllData" ma:web="ec82bc31-59c0-453d-bb82-3e534449348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291868E-5EBA-407A-8B4A-26324EF10F37}">
  <ds:schemaRefs>
    <ds:schemaRef ds:uri="1b41977e-0841-4577-b70a-f4d00a802919"/>
    <ds:schemaRef ds:uri="ec82bc31-59c0-453d-bb82-3e5344493481"/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613F9DD6-512E-4D3B-86EB-3AC12896295A}">
  <ds:schemaRefs>
    <ds:schemaRef ds:uri="1b41977e-0841-4577-b70a-f4d00a802919"/>
    <ds:schemaRef ds:uri="ec82bc31-59c0-453d-bb82-3e5344493481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7ACD41A0-56E9-4424-91DE-C18DE41BC9B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464</Words>
  <Application>Microsoft Office PowerPoint</Application>
  <PresentationFormat>Širokoúhlá obrazovka</PresentationFormat>
  <Paragraphs>77</Paragraphs>
  <Slides>12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3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Motiv Office</vt:lpstr>
      <vt:lpstr>Cognitively Overloaded:  A Stylometric Perspective  of Czech Anti-Establishment Media  </vt:lpstr>
      <vt:lpstr>„Biography of Fake News with a Touch of AI: Dangerous Phenomenon through the Prism of Modern Human Sciences" project no.: CZ.02.01.01/00/23_025/0008724 via the Operational Programme Jan Ámos Komenský.</vt:lpstr>
      <vt:lpstr>Quantitative Linguistics</vt:lpstr>
      <vt:lpstr>Off-project Insights: Case Shifts of Toponyms </vt:lpstr>
      <vt:lpstr>Prezentace aplikace PowerPoint</vt:lpstr>
      <vt:lpstr>Prezentace aplikace PowerPoint</vt:lpstr>
      <vt:lpstr>Project Corpus</vt:lpstr>
      <vt:lpstr>Results</vt:lpstr>
      <vt:lpstr>Prezentace aplikace PowerPoint</vt:lpstr>
      <vt:lpstr>Papers</vt:lpstr>
      <vt:lpstr>Opening: Researching Absence</vt:lpstr>
      <vt:lpstr>Prezentace aplikace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Cognitively Overloaded:  A Stylometric Perspective  of Czech Anti-Establishment Media</dc:title>
  <dc:creator>Místecký Michal</dc:creator>
  <cp:lastModifiedBy>Místecký Michal</cp:lastModifiedBy>
  <cp:revision>5</cp:revision>
  <dcterms:created xsi:type="dcterms:W3CDTF">2025-12-08T01:53:00Z</dcterms:created>
  <dcterms:modified xsi:type="dcterms:W3CDTF">2025-12-09T10:59:27Z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0x0101005BC1BA6B6AD2AA4DBCB54B003502224B</vt:lpwstr>
  </property>
  <property fmtid="{D5CDD505-2E9C-101B-9397-08002B2CF9AE}" pid="3" name="MediaServiceImageTags">
    <vt:lpwstr/>
  </property>
</Properties>
</file>